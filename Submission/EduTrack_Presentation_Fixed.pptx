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edutrack-delta-drab.vercel.app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hyperlink" Target="https://edutrack-delta-drab.vercel.app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hyperlink" Target="https://edutrack-delta-drab.vercel.app" TargetMode="External"/><Relationship Id="rId2" Type="http://schemas.openxmlformats.org/officeDocument/2006/relationships/hyperlink" Target="https://github.com/sriram12345678900/Edutrack.git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305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flipV="1">
            <a:off x="-457200" y="-457200"/>
            <a:ext cx="2286000" cy="2286000"/>
          </a:xfrm>
          <a:prstGeom prst="triangle">
            <a:avLst/>
          </a:prstGeom>
          <a:solidFill>
            <a:srgbClr val="6366F1"/>
          </a:solidFill>
          <a:ln/>
        </p:spPr>
      </p:sp>
      <p:sp>
        <p:nvSpPr>
          <p:cNvPr id="3" name="Shape 1"/>
          <p:cNvSpPr/>
          <p:nvPr/>
        </p:nvSpPr>
        <p:spPr>
          <a:xfrm flipH="1">
            <a:off x="10360152" y="5029200"/>
            <a:ext cx="2286000" cy="2286000"/>
          </a:xfrm>
          <a:prstGeom prst="triangle">
            <a:avLst/>
          </a:prstGeom>
          <a:solidFill>
            <a:srgbClr val="10B981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645920"/>
            <a:ext cx="105156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Basic Details of the Team and</a:t>
            </a:r>
            <a:endParaRPr lang="en-US" sz="3600" dirty="0"/>
          </a:p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 Statement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731520" y="3200400"/>
            <a:ext cx="4572000" cy="45720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338328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366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 Statement Chosen : 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3657600" y="33832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Personalized Learning and Adaptive Education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379476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366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 : 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3657600" y="379476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" y="420624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366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Name : 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3657600" y="42062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EduTrack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31520" y="461772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366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Leader Name : 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0" y="46177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Suwrat Korgaonkar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731520" y="502920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366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School Name : 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3657600" y="50292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Bal Bharati Public School, Navi Mumbai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731520" y="544068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366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Application Link : </a:t>
            </a:r>
            <a:endParaRPr lang="en-US" sz="1600" dirty="0"/>
          </a:p>
        </p:txBody>
      </p:sp>
      <p:sp>
        <p:nvSpPr>
          <p:cNvPr id="17" name="Text 15">
            <a:hlinkClick r:id="rId1" tooltip=""/>
          </p:cNvPr>
          <p:cNvSpPr/>
          <p:nvPr/>
        </p:nvSpPr>
        <p:spPr>
          <a:xfrm>
            <a:off x="3657600" y="54406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u="sng" dirty="0">
                <a:solidFill>
                  <a:srgbClr val="6366F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https://edutrack-delta-drab.vercel.app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305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Describe your Idea / Solution / Prototype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11274552" cy="18288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37160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1828800"/>
            <a:ext cx="5303520" cy="4206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CBSE students face extreme cognitive overload from jumping between disjointed study tools (textbook readers, timers, flashcard tools, group chats, test engines).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Core learning materials (NCERT books) are static, lacking adaptive explanations or native translation support (Hinglish/English toggle).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Revision lacks systematic feedback—students rarely use spacing techniques like Leitner boxes for active memory recall.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217920" y="1280160"/>
            <a:ext cx="5486400" cy="4754880"/>
          </a:xfrm>
          <a:prstGeom prst="roundRect">
            <a:avLst/>
          </a:prstGeom>
          <a:solidFill>
            <a:srgbClr val="0C0F1D"/>
          </a:solidFill>
          <a:ln w="19050">
            <a:solidFill>
              <a:srgbClr val="252B4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92240" y="155448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EduTrack Solution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6492240" y="2011680"/>
            <a:ext cx="493776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Unified Learning Space: Combines notes, AI flashcards, whiteboards, pomodoro, groups, and testing into one layout.</a:t>
            </a:r>
            <a:endParaRPr lang="en-US" sz="1200" dirty="0"/>
          </a:p>
          <a:p>
            <a:pPr indent="0" marL="0">
              <a:lnSpc>
                <a:spcPts val="2000"/>
              </a:lnSpc>
              <a:buNone/>
            </a:pPr>
            <a:endParaRPr lang="en-US" sz="12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Dynamic AI Textbook: Instantly simplifies textbook theories into readable, high-retention summaries with Hinglish language toggling.</a:t>
            </a:r>
            <a:endParaRPr lang="en-US" sz="1200" dirty="0"/>
          </a:p>
          <a:p>
            <a:pPr indent="0" marL="0">
              <a:lnSpc>
                <a:spcPts val="2000"/>
              </a:lnSpc>
              <a:buNone/>
            </a:pPr>
            <a:endParaRPr lang="en-US" sz="12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Spaced Leitner System: Automates box-based memory recall where students earn XP and level up as they master concepts.</a:t>
            </a:r>
            <a:endParaRPr lang="en-US" sz="1200" dirty="0"/>
          </a:p>
          <a:p>
            <a:pPr indent="0" marL="0">
              <a:lnSpc>
                <a:spcPts val="2000"/>
              </a:lnSpc>
              <a:buNone/>
            </a:pPr>
            <a:endParaRPr lang="en-US" sz="12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Real-Time peer StudyCircles: Encourages group work through secure, real-time message feeds and collaborative canvases.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305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 Flow Chart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11274552" cy="18288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645920"/>
            <a:ext cx="2103120" cy="4206240"/>
          </a:xfrm>
          <a:prstGeom prst="roundRect">
            <a:avLst/>
          </a:prstGeom>
          <a:solidFill>
            <a:srgbClr val="0C0F1D"/>
          </a:solidFill>
          <a:ln w="19050">
            <a:solidFill>
              <a:srgbClr val="252B4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234440" y="1188720"/>
            <a:ext cx="548640" cy="548640"/>
          </a:xfrm>
          <a:prstGeom prst="ellipse">
            <a:avLst/>
          </a:prstGeom>
          <a:solidFill>
            <a:srgbClr val="6366F1"/>
          </a:solidFill>
          <a:ln/>
        </p:spPr>
      </p:sp>
      <p:sp>
        <p:nvSpPr>
          <p:cNvPr id="6" name="Text 4"/>
          <p:cNvSpPr/>
          <p:nvPr/>
        </p:nvSpPr>
        <p:spPr>
          <a:xfrm>
            <a:off x="1234440" y="11887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48640" y="1920240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Setup &amp; Class Pick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548640" y="2560320"/>
            <a:ext cx="192024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 registers, sets class (6-10) and chooses Hinglish/English language preferences.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2560320" y="3200400"/>
            <a:ext cx="182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6366F1"/>
                </a:solidFill>
              </a:rPr>
              <a:t>→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2743200" y="1645920"/>
            <a:ext cx="2103120" cy="4206240"/>
          </a:xfrm>
          <a:prstGeom prst="roundRect">
            <a:avLst/>
          </a:prstGeom>
          <a:solidFill>
            <a:srgbClr val="0C0F1D"/>
          </a:solidFill>
          <a:ln w="19050">
            <a:solidFill>
              <a:srgbClr val="252B4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520440" y="1188720"/>
            <a:ext cx="548640" cy="548640"/>
          </a:xfrm>
          <a:prstGeom prst="ellipse">
            <a:avLst/>
          </a:prstGeom>
          <a:solidFill>
            <a:srgbClr val="6366F1"/>
          </a:solidFill>
          <a:ln/>
        </p:spPr>
      </p:sp>
      <p:sp>
        <p:nvSpPr>
          <p:cNvPr id="12" name="Text 10"/>
          <p:cNvSpPr/>
          <p:nvPr/>
        </p:nvSpPr>
        <p:spPr>
          <a:xfrm>
            <a:off x="3520440" y="11887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2834640" y="1920240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Daily Study Path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2834640" y="2560320"/>
            <a:ext cx="192024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maps chapters into steps. Workspace shows level dial, streaks, and active quests.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4846320" y="3200400"/>
            <a:ext cx="182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6366F1"/>
                </a:solidFill>
              </a:rPr>
              <a:t>→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5029200" y="1645920"/>
            <a:ext cx="2103120" cy="4206240"/>
          </a:xfrm>
          <a:prstGeom prst="roundRect">
            <a:avLst/>
          </a:prstGeom>
          <a:solidFill>
            <a:srgbClr val="0C0F1D"/>
          </a:solidFill>
          <a:ln w="19050">
            <a:solidFill>
              <a:srgbClr val="252B4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806440" y="1188720"/>
            <a:ext cx="548640" cy="548640"/>
          </a:xfrm>
          <a:prstGeom prst="ellipse">
            <a:avLst/>
          </a:prstGeom>
          <a:solidFill>
            <a:srgbClr val="6366F1"/>
          </a:solidFill>
          <a:ln/>
        </p:spPr>
      </p:sp>
      <p:sp>
        <p:nvSpPr>
          <p:cNvPr id="18" name="Text 16"/>
          <p:cNvSpPr/>
          <p:nvPr/>
        </p:nvSpPr>
        <p:spPr>
          <a:xfrm>
            <a:off x="5806440" y="11887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5120640" y="1920240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Interactive Lab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5120640" y="2560320"/>
            <a:ext cx="192024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 reads simplified theory, generates revision sheets, and sketches on whiteboard.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7132320" y="3200400"/>
            <a:ext cx="182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6366F1"/>
                </a:solidFill>
              </a:rPr>
              <a:t>→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7315200" y="1645920"/>
            <a:ext cx="2103120" cy="4206240"/>
          </a:xfrm>
          <a:prstGeom prst="roundRect">
            <a:avLst/>
          </a:prstGeom>
          <a:solidFill>
            <a:srgbClr val="0C0F1D"/>
          </a:solidFill>
          <a:ln w="19050">
            <a:solidFill>
              <a:srgbClr val="252B44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092440" y="1188720"/>
            <a:ext cx="548640" cy="548640"/>
          </a:xfrm>
          <a:prstGeom prst="ellipse">
            <a:avLst/>
          </a:prstGeom>
          <a:solidFill>
            <a:srgbClr val="6366F1"/>
          </a:solidFill>
          <a:ln/>
        </p:spPr>
      </p:sp>
      <p:sp>
        <p:nvSpPr>
          <p:cNvPr id="24" name="Text 22"/>
          <p:cNvSpPr/>
          <p:nvPr/>
        </p:nvSpPr>
        <p:spPr>
          <a:xfrm>
            <a:off x="8092440" y="11887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7406640" y="1920240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Leitner Spaced Cards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7406640" y="2560320"/>
            <a:ext cx="192024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Promotes recall cards into higher Leitner boxes, automatically awarding XP on completion.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9418320" y="3200400"/>
            <a:ext cx="182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6366F1"/>
                </a:solidFill>
              </a:rPr>
              <a:t>→</a:t>
            </a:r>
            <a:endParaRPr lang="en-US" sz="2200" dirty="0"/>
          </a:p>
        </p:txBody>
      </p:sp>
      <p:sp>
        <p:nvSpPr>
          <p:cNvPr id="28" name="Shape 26"/>
          <p:cNvSpPr/>
          <p:nvPr/>
        </p:nvSpPr>
        <p:spPr>
          <a:xfrm>
            <a:off x="9601200" y="1645920"/>
            <a:ext cx="2103120" cy="4206240"/>
          </a:xfrm>
          <a:prstGeom prst="roundRect">
            <a:avLst/>
          </a:prstGeom>
          <a:solidFill>
            <a:srgbClr val="0C0F1D"/>
          </a:solidFill>
          <a:ln w="19050">
            <a:solidFill>
              <a:srgbClr val="252B44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0378440" y="1188720"/>
            <a:ext cx="548640" cy="548640"/>
          </a:xfrm>
          <a:prstGeom prst="ellipse">
            <a:avLst/>
          </a:prstGeom>
          <a:solidFill>
            <a:srgbClr val="6366F1"/>
          </a:solidFill>
          <a:ln/>
        </p:spPr>
      </p:sp>
      <p:sp>
        <p:nvSpPr>
          <p:cNvPr id="30" name="Text 28"/>
          <p:cNvSpPr/>
          <p:nvPr/>
        </p:nvSpPr>
        <p:spPr>
          <a:xfrm>
            <a:off x="10378440" y="11887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9692640" y="1920240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StudyCircles &amp; PYQs</a:t>
            </a:r>
            <a:endParaRPr lang="en-US" sz="1350" dirty="0"/>
          </a:p>
        </p:txBody>
      </p:sp>
      <p:sp>
        <p:nvSpPr>
          <p:cNvPr id="32" name="Text 30"/>
          <p:cNvSpPr/>
          <p:nvPr/>
        </p:nvSpPr>
        <p:spPr>
          <a:xfrm>
            <a:off x="9692640" y="2560320"/>
            <a:ext cx="192024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Collabs in real-time chat circles, runs PYQ mock tests and receives detailed grading.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305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Technology Stack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11274552" cy="18288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371600"/>
            <a:ext cx="3566160" cy="2194560"/>
          </a:xfrm>
          <a:prstGeom prst="roundRect">
            <a:avLst/>
          </a:prstGeom>
          <a:solidFill>
            <a:srgbClr val="0C0F1D"/>
          </a:solidFill>
          <a:ln w="19050">
            <a:solidFill>
              <a:srgbClr val="252B4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55448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366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Frontend Core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40080" y="2011680"/>
            <a:ext cx="3200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React 18 / Next.js 14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TypeScript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Tailwind CSS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297680" y="1371600"/>
            <a:ext cx="3566160" cy="2194560"/>
          </a:xfrm>
          <a:prstGeom prst="roundRect">
            <a:avLst/>
          </a:prstGeom>
          <a:solidFill>
            <a:srgbClr val="0C0F1D"/>
          </a:solidFill>
          <a:ln w="19050">
            <a:solidFill>
              <a:srgbClr val="252B4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480560" y="155448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366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Interface &amp; Animation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480560" y="2011680"/>
            <a:ext cx="3200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Framer Motion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Lucide React Icons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 CSS variables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138160" y="1371600"/>
            <a:ext cx="3566160" cy="2194560"/>
          </a:xfrm>
          <a:prstGeom prst="roundRect">
            <a:avLst/>
          </a:prstGeom>
          <a:solidFill>
            <a:srgbClr val="0C0F1D"/>
          </a:solidFill>
          <a:ln w="19050">
            <a:solidFill>
              <a:srgbClr val="252B4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321040" y="155448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366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Backend Services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8321040" y="2011680"/>
            <a:ext cx="3200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Next.js App Router API Routes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Node.js engine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JSON Data caching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3840480"/>
            <a:ext cx="3566160" cy="2194560"/>
          </a:xfrm>
          <a:prstGeom prst="roundRect">
            <a:avLst/>
          </a:prstGeom>
          <a:solidFill>
            <a:srgbClr val="0C0F1D"/>
          </a:solidFill>
          <a:ln w="19050">
            <a:solidFill>
              <a:srgbClr val="252B4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402336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366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Database &amp; Live Solutions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40080" y="4480560"/>
            <a:ext cx="3200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Firebase Auth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Firestore (Real-time)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LiveKit (Video conferencing)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297680" y="3840480"/>
            <a:ext cx="3566160" cy="2194560"/>
          </a:xfrm>
          <a:prstGeom prst="roundRect">
            <a:avLst/>
          </a:prstGeom>
          <a:solidFill>
            <a:srgbClr val="0C0F1D"/>
          </a:solidFill>
          <a:ln w="19050">
            <a:solidFill>
              <a:srgbClr val="252B4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480560" y="402336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366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Orchestration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480560" y="4480560"/>
            <a:ext cx="3200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Pro / Flash models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OpenRouter client integration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Structured JSON Outputs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8138160" y="3840480"/>
            <a:ext cx="3566160" cy="2194560"/>
          </a:xfrm>
          <a:prstGeom prst="roundRect">
            <a:avLst/>
          </a:prstGeom>
          <a:solidFill>
            <a:srgbClr val="0C0F1D"/>
          </a:solidFill>
          <a:ln w="19050">
            <a:solidFill>
              <a:srgbClr val="252B4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321040" y="402336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366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 Utilities &amp; Cache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8321040" y="4480560"/>
            <a:ext cx="3200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localStorage persistence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Window CustomEvents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Spaced-repetition Leitner box model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305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Idea / Approach Details &amp; USP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11274552" cy="18288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371600"/>
            <a:ext cx="5486400" cy="4754880"/>
          </a:xfrm>
          <a:prstGeom prst="roundRect">
            <a:avLst/>
          </a:prstGeom>
          <a:solidFill>
            <a:srgbClr val="0C0F1D"/>
          </a:solidFill>
          <a:ln w="19050">
            <a:solidFill>
              <a:srgbClr val="252B4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64592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6366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Technical Architecture &amp; Flow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011680"/>
            <a:ext cx="493776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Modular Layout Architecture: Utilizes a shared SidebarLayout wrapper that handles route prefetching and automatic login/email-verification guards.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State Synchronization: Employs React context for session storage, custom window event hooks (`edutrack_xp_updated`) for real-time XP updates, and Firebase snapshot listeners for real-time StudyCircles messaging.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Local storage &amp; Leitner Model: Client-side Leitner engine updates card boxes and resets daily quests automatically when a new day is detected.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Generative Prompt Pipelines: Structures prompts to enforce CBSE guidelines, filtering out concepts (like the mole concept in basic classes) based on user profile.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217920" y="1371600"/>
            <a:ext cx="5486400" cy="4754880"/>
          </a:xfrm>
          <a:prstGeom prst="roundRect">
            <a:avLst/>
          </a:prstGeom>
          <a:solidFill>
            <a:srgbClr val="0C0F1D"/>
          </a:solidFill>
          <a:ln w="25400">
            <a:solidFill>
              <a:srgbClr val="10B98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92240" y="164592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Show Stopper / USP of Project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6492240" y="210312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Unified CBSE Study Cockpit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492240" y="2560320"/>
            <a:ext cx="493776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Unlike existing tools that focus solely on videos, textbooks, or flashcards, EduTrack brings these together in a unified workspace: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AI tutor acts as an active companion, capable of adding flashcards directly into the student's Leitner boxes.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Progression is gamified—studying NCERT material, using flashcards, and taking PYQ tests automatically triggers XP awards, streaks, levels, and leaderboards.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StudyCircles integrate interactive sketching and text feeds, turning isolated studying into an online collaborative experience.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305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Member Details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11274552" cy="18288"/>
          </a:xfrm>
          <a:prstGeom prst="rect">
            <a:avLst/>
          </a:prstGeom>
          <a:solidFill>
            <a:srgbClr val="6366F1"/>
          </a:solidFill>
          <a:ln/>
        </p:spPr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63040"/>
          <a:ext cx="11274552" cy="3840480"/>
        </p:xfrm>
        <a:graphic>
          <a:graphicData uri="http://schemas.openxmlformats.org/drawingml/2006/table">
            <a:tbl>
              <a:tblPr/>
              <a:tblGrid>
                <a:gridCol w="731520"/>
                <a:gridCol w="1097280"/>
                <a:gridCol w="2926080"/>
                <a:gridCol w="1371600"/>
                <a:gridCol w="1097280"/>
                <a:gridCol w="4050792"/>
              </a:tblGrid>
              <a:tr h="7680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SL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B556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Roll No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B556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B556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Class/Section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B556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Gender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B556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Email Address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B5563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0F1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0F1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Suwrat Korgaonkar (Leader)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0F1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 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0F1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0F1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suwratkorg@gmail.com / 904263@nm.balbharati.org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0F1D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0F1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0F1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Suryansh Gupta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0F1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 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0F1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0F1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907685@nm.balbharati.org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0F1D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0F1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02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0F1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Abhimanyu Mukherjee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0F1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 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0F1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0F1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903974@nm.balbharati.org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0F1D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0F1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0F1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Revanth Vutukuru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0F1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 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0F1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0F1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Revanth.vutu09@gmail.com / 903878@nm.balbharati.org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0F1D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5760720"/>
            <a:ext cx="112745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366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School: Bal Bharati Public School, Navi Mumbai (Class 10 Student Team)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305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 Video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11274552" cy="18288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4" name="Shape 2"/>
          <p:cNvSpPr/>
          <p:nvPr/>
        </p:nvSpPr>
        <p:spPr>
          <a:xfrm>
            <a:off x="1371600" y="1371600"/>
            <a:ext cx="9445752" cy="4389120"/>
          </a:xfrm>
          <a:prstGeom prst="roundRect">
            <a:avLst/>
          </a:prstGeom>
          <a:solidFill>
            <a:srgbClr val="0C0F1D"/>
          </a:solidFill>
          <a:ln w="25400">
            <a:solidFill>
              <a:srgbClr val="252B4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828800" y="1554480"/>
            <a:ext cx="85313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EduTrack Portal Demo Video Showcase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2286000" y="2103120"/>
            <a:ext cx="7616952" cy="2926080"/>
          </a:xfrm>
          <a:prstGeom prst="rect">
            <a:avLst/>
          </a:prstGeom>
          <a:solidFill>
            <a:srgbClr val="03050C"/>
          </a:solidFill>
          <a:ln w="19050">
            <a:solidFill>
              <a:srgbClr val="6366F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32704" y="3108960"/>
            <a:ext cx="914400" cy="914400"/>
          </a:xfrm>
          <a:prstGeom prst="ellipse">
            <a:avLst/>
          </a:prstGeom>
          <a:solidFill>
            <a:srgbClr val="6366F1"/>
          </a:solidFill>
          <a:ln/>
        </p:spPr>
      </p:sp>
      <p:sp>
        <p:nvSpPr>
          <p:cNvPr id="8" name="Shape 6"/>
          <p:cNvSpPr/>
          <p:nvPr/>
        </p:nvSpPr>
        <p:spPr>
          <a:xfrm>
            <a:off x="5998464" y="3337560"/>
            <a:ext cx="274320" cy="457200"/>
          </a:xfrm>
          <a:prstGeom prst="rtTriangle">
            <a:avLst/>
          </a:prstGeom>
          <a:solidFill>
            <a:srgbClr val="FFFFFF"/>
          </a:solidFill>
          <a:ln/>
        </p:spPr>
      </p:sp>
      <p:sp>
        <p:nvSpPr>
          <p:cNvPr id="9" name="Text 7"/>
          <p:cNvSpPr/>
          <p:nvPr/>
        </p:nvSpPr>
        <p:spPr>
          <a:xfrm>
            <a:off x="2286000" y="5029200"/>
            <a:ext cx="76169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Interactive Walkthrough Highlights:</a:t>
            </a:r>
            <a:endParaRPr lang="en-US" sz="110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Dashboard Navigation • Dynamic AI Textbook Hinglish Explanations • Leitner Box Recalls • Peer Chat</a:t>
            </a:r>
            <a:endParaRPr lang="en-US" sz="1100" dirty="0"/>
          </a:p>
        </p:txBody>
      </p:sp>
      <p:sp>
        <p:nvSpPr>
          <p:cNvPr id="10" name="Text 8">
            <a:hlinkClick r:id="rId1" tooltip=""/>
          </p:cNvPr>
          <p:cNvSpPr/>
          <p:nvPr/>
        </p:nvSpPr>
        <p:spPr>
          <a:xfrm>
            <a:off x="2286000" y="5486400"/>
            <a:ext cx="76169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u="sng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Access Live Application: https://edutrack-delta-drab.vercel.app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305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Code Highlight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11274552" cy="18288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371600"/>
            <a:ext cx="6583680" cy="4754880"/>
          </a:xfrm>
          <a:prstGeom prst="roundRect">
            <a:avLst/>
          </a:prstGeom>
          <a:solidFill>
            <a:srgbClr val="010206"/>
          </a:solidFill>
          <a:ln w="19050">
            <a:solidFill>
              <a:srgbClr val="252B4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554480"/>
            <a:ext cx="6217920" cy="4297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D4D4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src/lib/xp.ts - Core XP &amp; Gamification Engine</a:t>
            </a:r>
            <a:endParaRPr lang="en-US" sz="10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D4D4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 function awardUserXP(amount: number): { newXp: number; newLevel: number; leveledUp: boolean } {</a:t>
            </a:r>
            <a:endParaRPr lang="en-US" sz="10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D4D4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(typeof window === "undefined") return { newXp: 0, newLevel: 1, leveledUp: false };</a:t>
            </a:r>
            <a:endParaRPr lang="en-US" sz="10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D4D4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let xp = parseInt(localStorage.getItem("edutrack_xp") || "0", 10);</a:t>
            </a:r>
            <a:endParaRPr lang="en-US" sz="10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D4D4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let level = parseInt(localStorage.getItem("edutrack_level") || "1", 10);</a:t>
            </a:r>
            <a:endParaRPr lang="en-US" sz="10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D4D4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endParaRPr lang="en-US" sz="10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D4D4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let newXp = xp + amount;</a:t>
            </a:r>
            <a:endParaRPr lang="en-US" sz="10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D4D4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let nextLvlThreshold = level * 200;</a:t>
            </a:r>
            <a:endParaRPr lang="en-US" sz="10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D4D4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let newLvl = level;</a:t>
            </a:r>
            <a:endParaRPr lang="en-US" sz="10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D4D4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let leveledUp = false;</a:t>
            </a:r>
            <a:endParaRPr lang="en-US" sz="1050" dirty="0"/>
          </a:p>
          <a:p>
            <a:pPr indent="0" marL="0">
              <a:lnSpc>
                <a:spcPts val="1300"/>
              </a:lnSpc>
              <a:buNone/>
            </a:pPr>
            <a:endParaRPr lang="en-US" sz="10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D4D4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while (newXp &gt;= nextLvlThreshold) {</a:t>
            </a:r>
            <a:endParaRPr lang="en-US" sz="10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D4D4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newXp -= nextLvlThreshold;</a:t>
            </a:r>
            <a:endParaRPr lang="en-US" sz="10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D4D4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newLvl += 1;</a:t>
            </a:r>
            <a:endParaRPr lang="en-US" sz="10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D4D4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nextLvlThreshold = newLvl * 200;</a:t>
            </a:r>
            <a:endParaRPr lang="en-US" sz="10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D4D4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leveledUp = true;</a:t>
            </a:r>
            <a:endParaRPr lang="en-US" sz="10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D4D4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10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D4D4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localStorage.setItem("edutrack_xp", newXp.toString());</a:t>
            </a:r>
            <a:endParaRPr lang="en-US" sz="10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D4D4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localStorage.setItem("edutrack_level", newLvl.toString());</a:t>
            </a:r>
            <a:endParaRPr lang="en-US" sz="1050" dirty="0"/>
          </a:p>
          <a:p>
            <a:pPr indent="0" marL="0">
              <a:lnSpc>
                <a:spcPts val="1300"/>
              </a:lnSpc>
              <a:buNone/>
            </a:pPr>
            <a:endParaRPr lang="en-US" sz="10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D4D4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// Broadcast custom event to sync layouts instantly</a:t>
            </a:r>
            <a:endParaRPr lang="en-US" sz="10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D4D4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window.dispatchEvent(new CustomEvent("edutrack_xp_updated", { detail: { xp: newXp, level: newLvl } }));</a:t>
            </a:r>
            <a:endParaRPr lang="en-US" sz="10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D4D4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{ newXp, newLevel: newLvl, leveledUp };</a:t>
            </a:r>
            <a:endParaRPr lang="en-US" sz="10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D4D4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7315200" y="1371600"/>
            <a:ext cx="4416552" cy="4754880"/>
          </a:xfrm>
          <a:prstGeom prst="roundRect">
            <a:avLst/>
          </a:prstGeom>
          <a:solidFill>
            <a:srgbClr val="0C0F1D"/>
          </a:solidFill>
          <a:ln w="19050">
            <a:solidFill>
              <a:srgbClr val="252B4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0" y="1645920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366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Feature Implementation Details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498080" y="2011680"/>
            <a:ext cx="402336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Unified XP progression: Calculates levels dynamically with threshold multipliers ($L \times 200$ XP per level).</a:t>
            </a: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Client-side broadcast: Dispatches a CustomEvent (`edutrack_xp_updated`) to standard browsers, notifying sidebar layouts, dashboards, and profile components to reactively scale progress bars.</a:t>
            </a: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Persistent Storage: Backed by browser local storage keys to ensure XP logs and Daily Streak history survive tab reloads without requiring continuous database hits.</a:t>
            </a: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Modular Hook wrapper: Easily callable in NCERT textbooks (+50 XP), flashcard spaced review box promotions (+15 XP), or PYQ assessments.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305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Access &amp; Codebase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11274552" cy="18288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371600"/>
            <a:ext cx="5486400" cy="4754880"/>
          </a:xfrm>
          <a:prstGeom prst="roundRect">
            <a:avLst/>
          </a:prstGeom>
          <a:solidFill>
            <a:srgbClr val="0C0F1D"/>
          </a:solidFill>
          <a:ln w="19050">
            <a:solidFill>
              <a:srgbClr val="252B4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64592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Deployed Platform</a:t>
            </a:r>
            <a:endParaRPr lang="en-US" sz="2200" dirty="0"/>
          </a:p>
        </p:txBody>
      </p:sp>
      <p:sp>
        <p:nvSpPr>
          <p:cNvPr id="6" name="Text 4">
            <a:hlinkClick r:id="rId1" tooltip=""/>
          </p:cNvPr>
          <p:cNvSpPr/>
          <p:nvPr/>
        </p:nvSpPr>
        <p:spPr>
          <a:xfrm>
            <a:off x="731520" y="210312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u="sng" dirty="0">
                <a:solidFill>
                  <a:srgbClr val="6366F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https://edutrack-delta-drab.vercel.app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731520" y="2743200"/>
            <a:ext cx="493776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Production URL: Deployed to cloud infrastructure for low-latency delivery.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Fully Responsive: Optimized for desktops, tablets, and smart boards in classrooms.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Firebase Integration: Handles secure real-time authentication and synchronized peer sessions seamlessly.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Ready to Test: Create a free account or login to explore AI tutors, homework lens scanner, Leitner cards, and collaborative whiteboard.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217920" y="1371600"/>
            <a:ext cx="5486400" cy="4754880"/>
          </a:xfrm>
          <a:prstGeom prst="roundRect">
            <a:avLst/>
          </a:prstGeom>
          <a:solidFill>
            <a:srgbClr val="0C0F1D"/>
          </a:solidFill>
          <a:ln w="19050">
            <a:solidFill>
              <a:srgbClr val="252B4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92240" y="164592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 Repository</a:t>
            </a:r>
            <a:endParaRPr lang="en-US" sz="2200" dirty="0"/>
          </a:p>
        </p:txBody>
      </p:sp>
      <p:sp>
        <p:nvSpPr>
          <p:cNvPr id="10" name="Text 8">
            <a:hlinkClick r:id="rId2" tooltip=""/>
          </p:cNvPr>
          <p:cNvSpPr/>
          <p:nvPr/>
        </p:nvSpPr>
        <p:spPr>
          <a:xfrm>
            <a:off x="6492240" y="210312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u="sng" dirty="0">
                <a:solidFill>
                  <a:srgbClr val="6366F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 Codebase Link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92240" y="2743200"/>
            <a:ext cx="493776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Version Control: Hosted on GitHub with comprehensive commit logs.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Technology Highlights: Next.js 14 App Router, TypeScript, Tailwind CSS, and custom AI prompt pipelines.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Setup Guide: Comprehensive README.md file detailing local compilation commands and environment variables setup.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Modular Design: Clean file structures split by concerns (components, state context hooks, local engines, database adapters).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2026-06-15T14:47:54Z</dcterms:created>
  <dcterms:modified xsi:type="dcterms:W3CDTF">2026-06-15T14:47:54Z</dcterms:modified>
</cp:coreProperties>
</file>